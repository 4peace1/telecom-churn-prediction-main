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4c70902fb741ff" /><Relationship Type="http://schemas.openxmlformats.org/officeDocument/2006/relationships/extended-properties" Target="/docProps/app.xml" Id="R859459059fc146cb" /><Relationship Type="http://schemas.openxmlformats.org/officeDocument/2006/relationships/officeDocument" Target="/ppt/presentation.xml" Id="R19dcc8c6085f4e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af47b866e54427"/>
  </p:sldMasterIdLst>
  <p:notesMasterIdLst>
    <p:notesMasterId xmlns:r="http://schemas.openxmlformats.org/officeDocument/2006/relationships" r:id="R5e07e3e745864863"/>
  </p:notesMasterIdLst>
  <p:sldIdLst>
    <p:sldId xmlns:r="http://schemas.openxmlformats.org/officeDocument/2006/relationships" id="256" r:id="R582b6fd1e84b40c2"/>
    <p:sldId xmlns:r="http://schemas.openxmlformats.org/officeDocument/2006/relationships" id="257" r:id="Rda970f6de2c34e1c"/>
    <p:sldId xmlns:r="http://schemas.openxmlformats.org/officeDocument/2006/relationships" id="258" r:id="Rb2ef8fae43e649fe"/>
    <p:sldId xmlns:r="http://schemas.openxmlformats.org/officeDocument/2006/relationships" id="259" r:id="R65cf3c7b5fe241db"/>
    <p:sldId xmlns:r="http://schemas.openxmlformats.org/officeDocument/2006/relationships" id="260" r:id="R514d891766c74ba7"/>
    <p:sldId xmlns:r="http://schemas.openxmlformats.org/officeDocument/2006/relationships" id="261" r:id="R72b93a028b2441d8"/>
    <p:sldId xmlns:r="http://schemas.openxmlformats.org/officeDocument/2006/relationships" id="262" r:id="R90afa3d487e840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24fb5d79bb44ce" /><Relationship Type="http://schemas.openxmlformats.org/officeDocument/2006/relationships/slideMaster" Target="/ppt/slideMasters/slideMaster1.xml" Id="R0aaf47b866e54427" /><Relationship Type="http://schemas.openxmlformats.org/officeDocument/2006/relationships/notesMaster" Target="/ppt/notesMasters/notesMaster1.xml" Id="R5e07e3e745864863" /><Relationship Type="http://schemas.openxmlformats.org/officeDocument/2006/relationships/presProps" Target="/ppt/presProps.xml" Id="R319e137fb05a4910" /><Relationship Type="http://schemas.openxmlformats.org/officeDocument/2006/relationships/tableStyles" Target="/ppt/tableStyles.xml" Id="Re0cea1c2b25948ab" /><Relationship Type="http://schemas.openxmlformats.org/officeDocument/2006/relationships/slide" Target="/ppt/slides/slide1.xml" Id="R582b6fd1e84b40c2" /><Relationship Type="http://schemas.openxmlformats.org/officeDocument/2006/relationships/slide" Target="/ppt/slides/slide2.xml" Id="Rda970f6de2c34e1c" /><Relationship Type="http://schemas.openxmlformats.org/officeDocument/2006/relationships/slide" Target="/ppt/slides/slide3.xml" Id="Rb2ef8fae43e649fe" /><Relationship Type="http://schemas.openxmlformats.org/officeDocument/2006/relationships/slide" Target="/ppt/slides/slide4.xml" Id="R65cf3c7b5fe241db" /><Relationship Type="http://schemas.openxmlformats.org/officeDocument/2006/relationships/slide" Target="/ppt/slides/slide5.xml" Id="R514d891766c74ba7" /><Relationship Type="http://schemas.openxmlformats.org/officeDocument/2006/relationships/slide" Target="/ppt/slides/slide6.xml" Id="R72b93a028b2441d8" /><Relationship Type="http://schemas.openxmlformats.org/officeDocument/2006/relationships/slide" Target="/ppt/slides/slide7.xml" Id="R90afa3d487e840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463a13b1e84d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dced86d4e94dbd" /><Relationship Type="http://schemas.openxmlformats.org/officeDocument/2006/relationships/notesMaster" Target="/ppt/notesMasters/notesMaster1.xml" Id="R58fd921b5b304f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82e0ea1aed455e" /><Relationship Type="http://schemas.openxmlformats.org/officeDocument/2006/relationships/notesMaster" Target="/ppt/notesMasters/notesMaster1.xml" Id="R1614279bb13443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6d6a090174e69" /><Relationship Type="http://schemas.openxmlformats.org/officeDocument/2006/relationships/notesMaster" Target="/ppt/notesMasters/notesMaster1.xml" Id="R735c4d3f376d4b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6873410f6e47c0" /><Relationship Type="http://schemas.openxmlformats.org/officeDocument/2006/relationships/notesMaster" Target="/ppt/notesMasters/notesMaster1.xml" Id="R05e6dc4cb836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fa17c2e5a74278" /><Relationship Type="http://schemas.openxmlformats.org/officeDocument/2006/relationships/notesMaster" Target="/ppt/notesMasters/notesMaster1.xml" Id="Re9b4e80e78e145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986436b72d4d96" /><Relationship Type="http://schemas.openxmlformats.org/officeDocument/2006/relationships/notesMaster" Target="/ppt/notesMasters/notesMaster1.xml" Id="R9d54129005cf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eb892b868149c4" /><Relationship Type="http://schemas.openxmlformats.org/officeDocument/2006/relationships/notesMaster" Target="/ppt/notesMasters/notesMaster1.xml" Id="R42b3c1ea496e4d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9a7b6799248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b67b729a1c4db1" /><Relationship Type="http://schemas.openxmlformats.org/officeDocument/2006/relationships/slideLayout" Target="/ppt/slideLayouts/slideLayout1.xml" Id="R30818fab8cb84b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818fab8cb84b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2150481904843" /><Relationship Type="http://schemas.openxmlformats.org/officeDocument/2006/relationships/notesSlide" Target="/ppt/notesSlides/notesSlide1.xml" Id="R30f72c8d73fd4f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ab4eb7ed240c2" /><Relationship Type="http://schemas.openxmlformats.org/officeDocument/2006/relationships/notesSlide" Target="/ppt/notesSlides/notesSlide2.xml" Id="R3b703436d33447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da248419f4a2a" /><Relationship Type="http://schemas.openxmlformats.org/officeDocument/2006/relationships/notesSlide" Target="/ppt/notesSlides/notesSlide3.xml" Id="Rde963776d69c46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4091c357d483a" /><Relationship Type="http://schemas.openxmlformats.org/officeDocument/2006/relationships/chart" Target="/ppt/slides/charts/chart1.xml" Id="Rfebc50045e1e453c" /><Relationship Type="http://schemas.openxmlformats.org/officeDocument/2006/relationships/notesSlide" Target="/ppt/notesSlides/notesSlide4.xml" Id="R1014866c17f94e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3322f12bd40ab" /><Relationship Type="http://schemas.openxmlformats.org/officeDocument/2006/relationships/notesSlide" Target="/ppt/notesSlides/notesSlide5.xml" Id="R3fbee8fdf1794b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390764db948ba" /><Relationship Type="http://schemas.openxmlformats.org/officeDocument/2006/relationships/notesSlide" Target="/ppt/notesSlides/notesSlide6.xml" Id="R85b9f262154f41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8b73cff944598" /><Relationship Type="http://schemas.openxmlformats.org/officeDocument/2006/relationships/notesSlide" Target="/ppt/notesSlides/notesSlide7.xml" Id="R4711cb55f15d4b6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Original 50%</c:v>
          </c:tx>
          <c:spPr>
            <a:solidFill xmlns:a="http://schemas.openxmlformats.org/drawingml/2006/main">
              <a:srgbClr val="64748B"/>
            </a:solidFill>
          </c:spPr>
          <c:cat>
            <c:strLit>
              <c:ptCount val="3"/>
              <c:pt idx="0">
                <c:v>Precision</c:v>
              </c:pt>
              <c:pt idx="1">
                <c:v>Recall</c:v>
              </c:pt>
              <c:pt idx="2">
                <c:v>F1 score</c:v>
              </c:pt>
            </c:strLit>
          </c:cat>
          <c:val>
            <c:numLit>
              <c:formatCode>General</c:formatCode>
              <c:ptCount val="3"/>
              <c:pt idx="0">
                <c:v>65.72</c:v>
              </c:pt>
              <c:pt idx="1">
                <c:v>55.88</c:v>
              </c:pt>
              <c:pt idx="2">
                <c:v>60.4</c:v>
              </c:pt>
            </c:numLit>
          </c:val>
        </c:ser>
        <c:ser>
          <c:idx val="1"/>
          <c:order val="1"/>
          <c:tx>
            <c:v>Revised 33%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Precision</c:v>
              </c:pt>
              <c:pt idx="1">
                <c:v>Recall</c:v>
              </c:pt>
              <c:pt idx="2">
                <c:v>F1 score</c:v>
              </c:pt>
            </c:strLit>
          </c:cat>
          <c:val>
            <c:numLit>
              <c:formatCode>General</c:formatCode>
              <c:ptCount val="3"/>
              <c:pt idx="0">
                <c:v>54</c:v>
              </c:pt>
              <c:pt idx="1">
                <c:v>72.19</c:v>
              </c:pt>
              <c:pt idx="2">
                <c:v>61.78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F049A-7F6B-4FFB-9861-9F5F924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B8FF"/>
                </a:solidFill>
              </a:defRPr>
            </a:pPr>
            <a:r>
              <a:rPr sz="1125" b="1">
                <a:solidFill>
                  <a:srgbClr val="8DB8FF"/>
                </a:solidFill>
              </a:rPr>
              <a:t>3MTT 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A2B94-D859-4CD2-8251-AD4DD361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Telecom Churn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E92BF-3CA7-434F-8D8F-24E7B9EE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D9F6"/>
                </a:solidFill>
              </a:defRPr>
            </a:pPr>
            <a:r>
              <a:rPr sz="1800" b="0">
                <a:solidFill>
                  <a:srgbClr val="C8D9F6"/>
                </a:solidFill>
              </a:rPr>
              <a:t>My 3MTT capstone: exploring customer churn and building a simple prediction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04660-1717-4064-99C2-A4EC5277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143000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365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60C93-B9CD-48C3-90FC-2D98C895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72.2%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B30C6-E06A-4C4A-8E07-D35F5137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8D9F6"/>
                </a:solidFill>
              </a:defRPr>
            </a:pPr>
            <a:r>
              <a:rPr sz="1500" b="0">
                <a:solidFill>
                  <a:srgbClr val="C8D9F6"/>
                </a:solidFill>
              </a:rPr>
              <a:t>holdout churn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B782E-C794-47F9-AD48-E6B3C0C0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59E0B"/>
                </a:solidFill>
              </a:defRPr>
            </a:pPr>
            <a:r>
              <a:rPr sz="3300" b="1">
                <a:solidFill>
                  <a:srgbClr val="F59E0B"/>
                </a:solidFill>
              </a:rPr>
              <a:t>84.2%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8776D-6465-4C3B-8BF3-52565C32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576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8D9F6"/>
                </a:solidFill>
              </a:defRPr>
            </a:pPr>
            <a:r>
              <a:rPr sz="1350" b="0">
                <a:solidFill>
                  <a:srgbClr val="C8D9F6"/>
                </a:solidFill>
              </a:rPr>
              <a:t>ROC-AUC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F95DD-1FA4-4F82-886A-56D43D2E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9F6"/>
                </a:solidFill>
              </a:defRPr>
            </a:pPr>
            <a:r>
              <a:rPr sz="1350" b="0">
                <a:solidFill>
                  <a:srgbClr val="C8D9F6"/>
                </a:solidFill>
              </a:rPr>
              <a:t>Sunday Babatunde · FE/26/2850020886 · 4peace1@gmail.com · Male</a:t>
            </a:r>
          </a:p>
        </p:txBody>
      </p:sp>
    </p:spTree>
    <p:extLst>
      <p:ext uri="{BB962C8B-B14F-4D97-AF65-F5344CB8AC3E}">
        <p14:creationId xmlns:p14="http://schemas.microsoft.com/office/powerpoint/2010/main" val="946475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0BA85-369E-4DBA-A499-50337F7C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PROJECT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C3EDB-03C1-44D3-89A8-49060386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From a notebook idea to a working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6E160-1674-4395-B663-89EA0695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467D9-AF09-4710-9150-B200064E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CD4B0-CD2D-4668-9F89-A59751AD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What I completed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AD141-0154-4E69-B6F9-995001D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6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BF71D-B5E4-4C72-AF4F-C16838F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86050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Explored the customer data and churn patterns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F30EA-B968-4508-8BA2-D7D49C05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9262A-6313-4B26-8B9E-5CD951F2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861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Trained and tested a repeatable model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3C0CF-DE24-4FBE-9648-156142D5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A3611-E0D7-4C4E-904E-318FC7DB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86200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Built a Streamlit app for customer risk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49DCE-CA5F-402C-B308-4D6C0A91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862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EE2DE-94C0-485F-9924-50C5A37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48627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Documented the limits and responsible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C83CA-F0BD-4E0C-AAFF-892386EA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55435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0CCBD-B6A6-4450-9AAA-93BE6CF5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DB8FF"/>
                </a:solidFill>
              </a:defRPr>
            </a:pPr>
            <a:r>
              <a:rPr sz="1050" b="1">
                <a:solidFill>
                  <a:srgbClr val="8DB8FF"/>
                </a:solidFill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1D518-8CD7-4A72-85B9-046A6317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Ready to share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4DC7F-591A-4E2B-A562-9487DE73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9F6"/>
                </a:solidFill>
              </a:defRPr>
            </a:pPr>
            <a:r>
              <a:rPr sz="1575" b="0">
                <a:solidFill>
                  <a:srgbClr val="C8D9F6"/>
                </a:solidFill>
              </a:rPr>
              <a:t>The project is organised, tested and prepared for GitHub and Streamlit.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55BD4-5A5D-4657-B9C2-7A486B58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3MTT CAPSTONE · 2</a:t>
            </a:r>
          </a:p>
        </p:txBody>
      </p:sp>
    </p:spTree>
    <p:extLst>
      <p:ext uri="{BB962C8B-B14F-4D97-AF65-F5344CB8AC3E}">
        <p14:creationId xmlns:p14="http://schemas.microsoft.com/office/powerpoint/2010/main" val="1537818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3696C7-52C4-48EE-A7C6-238DCF31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2D63F-201A-44B6-B87D-07AF3E62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I started by understanding the customers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6C141-A52F-44EC-9BD8-3553602F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109CB-5C32-4F8D-97E3-D03089A4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288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222E2-CF52-4FD6-9CC6-73E4519A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7,043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201D5-34F4-426C-81F4-5BA4C71F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F30D3-E266-480E-BEC2-450DF2D4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09750"/>
            <a:ext cx="24288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EBF36-9968-4430-8214-29CBF8F5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7645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66FEA-1296-422A-B4C0-7CD80194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47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predictive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F5081-0E47-4CA3-B18A-F84E0035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4288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3BE11-763F-4372-B3AC-1917E12E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26.5%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B2CC6-FCC2-4DF6-B154-E8DD3DA4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observed churn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FA61E-1773-41C9-BD08-9411779F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09750"/>
            <a:ext cx="24288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1146F-E11F-45A4-80D9-9A8FB9A1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7645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79AAB-0DC3-47A8-9B7E-5651112B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47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duplicate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5BC38-F33A-4D31-9B6E-E86C0C8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What I used it for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E5BB6-D7FA-4057-8E3A-E8D47FDC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ABCB7-F7CE-4B8F-92EF-EBB0D9BD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Finding patterns linked with churn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6B46A-1CBD-49E0-8034-37610A4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DD7E6-EF25-446E-8036-A7CCE00E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Training and testing a prediction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CC1AE-DD71-4D42-8DF1-E6BC8E74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A limit I kept in mind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C069A-1425-489A-9DD8-35636C26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This is a public IBM-style sample, not data from a Nigerian network. A real deployment would need recent, properly authorised local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8676C-FC05-4002-9F0C-048D027D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3MTT CAPSTONE · 3</a:t>
            </a:r>
          </a:p>
        </p:txBody>
      </p:sp>
    </p:spTree>
    <p:extLst>
      <p:ext uri="{BB962C8B-B14F-4D97-AF65-F5344CB8AC3E}">
        <p14:creationId xmlns:p14="http://schemas.microsoft.com/office/powerpoint/2010/main" val="785653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D6664-D042-4A98-91D0-4744FA0B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MODEL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54750-F976-43F1-8307-4AEC66D2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I chose to find more churners, not just chase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5A9F3-962C-42BA-9BC7-3EC8B860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6572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bc50045e1e453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379C7-F676-481E-8553-E969CF50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7909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96EEF-DEBC-4214-87B8-B191657E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The trade-off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70962-AA12-4397-B3E2-70A73B3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337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+61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E9B9D-F5F6-40EA-84BE-662A843D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33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additional churners found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0963D-CDC0-48FB-B3FB-A6BB8907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9E0B"/>
                </a:solidFill>
              </a:defRPr>
            </a:pPr>
            <a:r>
              <a:rPr sz="3150" b="1">
                <a:solidFill>
                  <a:srgbClr val="F59E0B"/>
                </a:solidFill>
              </a:rPr>
              <a:t>+121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A057E-1AB4-4EF4-A3C6-17748C8B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958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additional retained customers flagged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0A564-9ABE-4420-B378-FB13B6C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3MTT CAPSTONE · 4</a:t>
            </a:r>
          </a:p>
        </p:txBody>
      </p:sp>
    </p:spTree>
    <p:extLst>
      <p:ext uri="{BB962C8B-B14F-4D97-AF65-F5344CB8AC3E}">
        <p14:creationId xmlns:p14="http://schemas.microsoft.com/office/powerpoint/2010/main" val="469092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600BBD-4230-4C7D-817F-EA265263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MODEL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81877-6746-4D84-905A-FAFA616E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The test results were encouraging, but not perfect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8DC9A-9080-4107-85F1-0A934386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F5CFA-756F-4791-9B65-9A1529DB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BAE86-AE64-409A-8D5F-1C3D079F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1724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2545"/>
                </a:solidFill>
              </a:defRPr>
            </a:pPr>
            <a:r>
              <a:rPr sz="2325" b="1">
                <a:solidFill>
                  <a:srgbClr val="0B2545"/>
                </a:solidFill>
              </a:rPr>
              <a:t>76.3%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08C10-BD30-47B8-8E0B-8E04BCC3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9D286-0FD7-4DF9-97FA-1A868538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2880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868FC-7110-4A35-B085-54528F23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85975"/>
            <a:ext cx="1724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2545"/>
                </a:solidFill>
              </a:defRPr>
            </a:pPr>
            <a:r>
              <a:rPr sz="2325" b="1">
                <a:solidFill>
                  <a:srgbClr val="0B2545"/>
                </a:solidFill>
              </a:rPr>
              <a:t>54.0%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D5C5F-218B-412E-A953-22CBAE00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0985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3538A-22F9-408A-9B13-6E624693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2880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8024F-99BD-4781-87C8-F789A7F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85975"/>
            <a:ext cx="1724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72.2%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EE7B5-C772-43F2-A652-AC8E2574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985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87014-6E06-4AFD-B0F2-54BA8412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2880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15F2A-374D-4B6D-9EB4-0506D7E0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85975"/>
            <a:ext cx="1724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2545"/>
                </a:solidFill>
              </a:defRPr>
            </a:pPr>
            <a:r>
              <a:rPr sz="2325" b="1">
                <a:solidFill>
                  <a:srgbClr val="0B2545"/>
                </a:solidFill>
              </a:rPr>
              <a:t>61.8%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4D8DB-6E7C-4207-AF60-13498BBC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0985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F1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7C7C7-FF14-4390-9C95-48F160E7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FD0C0-2B2D-47F8-8F1A-4CA11BF5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85975"/>
            <a:ext cx="1724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2545"/>
                </a:solidFill>
              </a:defRPr>
            </a:pPr>
            <a:r>
              <a:rPr sz="2325" b="1">
                <a:solidFill>
                  <a:srgbClr val="0B2545"/>
                </a:solidFill>
              </a:rPr>
              <a:t>84.2%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373AC-ADC6-49C2-A2D9-199CC6D4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ROC-AUC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57F4C-D0DE-4BE9-B296-93134AD8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143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E294D-ECF1-4F28-86C3-04717665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270 of 374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A664D-3910-415D-B0E2-9D0814F3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9F6"/>
                </a:solidFill>
              </a:defRPr>
            </a:pPr>
            <a:r>
              <a:rPr sz="1500" b="0">
                <a:solidFill>
                  <a:srgbClr val="C8D9F6"/>
                </a:solidFill>
              </a:rPr>
              <a:t>actual churners identified on the holdout 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3FB00-4EA5-4835-8803-D892D5A9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How I would use 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C590D-78AA-45A5-85B7-0E652F4F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C285B-CDE0-40D3-BC70-C7DF089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910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Use the score to decide who to call first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ED8C6-816F-4826-8BAC-4FA680F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14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F9E32-E120-41F2-91B3-7B07DC34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14875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Let the retention budget guide the threshold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6123DD-E438-43A4-83EF-C75BAAA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38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7B2986-7A10-446C-B246-AB203FFD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2387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Keep checking fairness and performance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0C28F8-4821-408B-A7DE-BD32B72E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3MTT CAPSTONE · 5</a:t>
            </a:r>
          </a:p>
        </p:txBody>
      </p:sp>
    </p:spTree>
    <p:extLst>
      <p:ext uri="{BB962C8B-B14F-4D97-AF65-F5344CB8AC3E}">
        <p14:creationId xmlns:p14="http://schemas.microsoft.com/office/powerpoint/2010/main" val="1831881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1D6F0-53B7-42C9-8383-4D5D8506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THE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1A4BC-6B0C-4EA6-B3D2-4B014171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I kept the app simple for the person using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9429C-D686-4172-890E-B28D40E3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D26C2-335E-4603-AACA-3A612E7C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D8DF5-C870-4173-9605-4EA84F7D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B1943-8134-4283-9037-AE58D6F1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</a:defRPr>
            </a:pPr>
            <a:r>
              <a:rPr sz="2025" b="1">
                <a:solidFill>
                  <a:srgbClr val="0B2545"/>
                </a:solidFill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BB766-02CD-47D4-8842-A4BCAB67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train_model.py fits and validates the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DE489-C27A-4351-9E29-D121B4F2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55928-8092-4B0C-91E6-ECD5AD2A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6DEBF-EE4C-4E34-A05A-6C828E23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</a:defRPr>
            </a:pPr>
            <a:r>
              <a:rPr sz="2025" b="1">
                <a:solidFill>
                  <a:srgbClr val="0B2545"/>
                </a:solidFill>
              </a:rPr>
              <a:t>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5C00F-2386-4D10-B00B-AC51B56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joblib stores preprocessing, model and threshold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10225-EA4C-40D2-A84F-DC0E943C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79146-A8B2-4CBA-B2EE-32D49E94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3D639-96AA-45EC-87D4-C6903BA7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</a:defRPr>
            </a:pPr>
            <a:r>
              <a:rPr sz="2025" b="1">
                <a:solidFill>
                  <a:srgbClr val="0B2545"/>
                </a:solidFill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6276C-0690-4896-B200-53A0382C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Streamlit loads once and predicts on new profiles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DCDAE-D08B-49B1-930D-DB4EAD12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Security lesson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D7A0F-E0AF-4743-9C34-803DF5F9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 removed the old ngrok token and kept secrets out of the repository.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E1241-026D-4BFB-BB47-A37814A6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3MTT CAPSTONE · 6</a:t>
            </a:r>
          </a:p>
        </p:txBody>
      </p:sp>
    </p:spTree>
    <p:extLst>
      <p:ext uri="{BB962C8B-B14F-4D97-AF65-F5344CB8AC3E}">
        <p14:creationId xmlns:p14="http://schemas.microsoft.com/office/powerpoint/2010/main" val="10290669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3A431-B50A-44E2-AC28-BEAB4B5B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DB8FF"/>
                </a:solidFill>
              </a:defRPr>
            </a:pPr>
            <a:r>
              <a:rPr sz="1050" b="1">
                <a:solidFill>
                  <a:srgbClr val="8DB8FF"/>
                </a:solidFill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F1985-419E-4128-B886-E7CA010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I would do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62E5C-CCC3-4664-B67D-710F5C31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61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72AF1-71E9-4620-B3A6-FAF5459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787D7-6661-4E12-8EB8-66FFA090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38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Publish the cleaned project on 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9CBBF-E817-4ECB-BD7A-02B4D63D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61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D4F82"/>
          </a:solidFill>
          <a:ln xmlns:a="http://schemas.openxmlformats.org/drawingml/2006/main" w="9525">
            <a:solidFill>
              <a:srgbClr val="3D679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BB861-2956-4548-80D4-1D4CEF32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F0758-6520-40BE-A12C-6F455BFF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Deploy the app on Streamlit Community 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FB6BB-3A23-451E-80F0-C6AA923D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361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D4F82"/>
          </a:solidFill>
          <a:ln xmlns:a="http://schemas.openxmlformats.org/drawingml/2006/main" w="9525">
            <a:solidFill>
              <a:srgbClr val="3D679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4E6FB-D7C7-43D6-B164-81F62C12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B0A5B-CEB3-4725-BDF2-DD92F191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Test the model with recent local telecom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C3AD4-3978-4753-BC57-B8D568E2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61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D4F82"/>
          </a:solidFill>
          <a:ln xmlns:a="http://schemas.openxmlformats.org/drawingml/2006/main" w="9525">
            <a:solidFill>
              <a:srgbClr val="3D67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A8910-48D4-4287-9335-BC76D642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AF0E8-C501-47F6-91BE-B30FAA10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Compare retention costs with customer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27F56-870C-4ECD-B4F9-D2EBA59C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361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D4F82"/>
          </a:solidFill>
          <a:ln xmlns:a="http://schemas.openxmlformats.org/drawingml/2006/main" w="9525">
            <a:solidFill>
              <a:srgbClr val="3D679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4D9D8-03E1-452A-9BED-F1279CE0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300B9-D91D-4FE2-A254-18B5BFC3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81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Monitor performance and fairness over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EFEBB-3E84-45C9-8DBF-B91370B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9F6"/>
                </a:solidFill>
              </a:defRPr>
            </a:pPr>
            <a:r>
              <a:rPr sz="1500" b="0">
                <a:solidFill>
                  <a:srgbClr val="C8D9F6"/>
                </a:solidFill>
              </a:rPr>
              <a:t>The capstone is complete, but a real-world model would keep improving with better data and feedback.</a:t>
            </a:r>
          </a:p>
        </p:txBody>
      </p:sp>
    </p:spTree>
    <p:extLst>
      <p:ext uri="{BB962C8B-B14F-4D97-AF65-F5344CB8AC3E}">
        <p14:creationId xmlns:p14="http://schemas.microsoft.com/office/powerpoint/2010/main" val="1285155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2026-08-21T14:14:29.2310000Z</dcterms:created>
  <dcterms:modified xsi:type="dcterms:W3CDTF">2026-08-21T14:14:29.2310000Z</dcterms:modified>
</coreProperties>
</file>